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8C66AD-0A38-468E-AEAE-56A9F4356002}" type="doc">
      <dgm:prSet loTypeId="urn:microsoft.com/office/officeart/2009/layout/CircleArrowProcess" loCatId="process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7B7859F-BA68-4263-A2A6-454929105B4F}">
      <dgm:prSet phldrT="[Text]"/>
      <dgm:spPr/>
      <dgm:t>
        <a:bodyPr/>
        <a:lstStyle/>
        <a:p>
          <a:r>
            <a:rPr lang="en-US" dirty="0" err="1" smtClean="0"/>
            <a:t>SQl</a:t>
          </a:r>
          <a:endParaRPr lang="en-US" dirty="0"/>
        </a:p>
      </dgm:t>
    </dgm:pt>
    <dgm:pt modelId="{C25C3E78-7E18-4D61-86DD-F4DFBE3FDD83}" type="parTrans" cxnId="{BCE685A7-2116-43B4-BD8C-918D2BCE33A0}">
      <dgm:prSet/>
      <dgm:spPr/>
      <dgm:t>
        <a:bodyPr/>
        <a:lstStyle/>
        <a:p>
          <a:endParaRPr lang="en-US"/>
        </a:p>
      </dgm:t>
    </dgm:pt>
    <dgm:pt modelId="{94A3F7EF-A7F1-4A48-977E-2DF00D9FEC60}" type="sibTrans" cxnId="{BCE685A7-2116-43B4-BD8C-918D2BCE33A0}">
      <dgm:prSet/>
      <dgm:spPr/>
      <dgm:t>
        <a:bodyPr/>
        <a:lstStyle/>
        <a:p>
          <a:endParaRPr lang="en-US"/>
        </a:p>
      </dgm:t>
    </dgm:pt>
    <dgm:pt modelId="{A488F6FF-0781-4898-B443-D346CDDD9567}">
      <dgm:prSet phldrT="[Text]"/>
      <dgm:spPr/>
      <dgm:t>
        <a:bodyPr/>
        <a:lstStyle/>
        <a:p>
          <a:r>
            <a:rPr lang="en-US" dirty="0" smtClean="0"/>
            <a:t>Excel</a:t>
          </a:r>
          <a:endParaRPr lang="en-US" dirty="0"/>
        </a:p>
      </dgm:t>
    </dgm:pt>
    <dgm:pt modelId="{BD6DD02F-F1DA-41F1-A607-8D7BFAAA7F43}" type="parTrans" cxnId="{83808306-0808-4AC9-8058-8C4176E68522}">
      <dgm:prSet/>
      <dgm:spPr/>
      <dgm:t>
        <a:bodyPr/>
        <a:lstStyle/>
        <a:p>
          <a:endParaRPr lang="en-US"/>
        </a:p>
      </dgm:t>
    </dgm:pt>
    <dgm:pt modelId="{0F1A65BA-DFC0-4858-AA31-F53A1C342CC0}" type="sibTrans" cxnId="{83808306-0808-4AC9-8058-8C4176E68522}">
      <dgm:prSet/>
      <dgm:spPr/>
      <dgm:t>
        <a:bodyPr/>
        <a:lstStyle/>
        <a:p>
          <a:endParaRPr lang="en-US"/>
        </a:p>
      </dgm:t>
    </dgm:pt>
    <dgm:pt modelId="{8EE7E220-8B7B-4743-8142-A7B60CDA2BE0}">
      <dgm:prSet phldrT="[Text]"/>
      <dgm:spPr/>
      <dgm:t>
        <a:bodyPr/>
        <a:lstStyle/>
        <a:p>
          <a:r>
            <a:rPr lang="en-US" dirty="0" smtClean="0"/>
            <a:t>Power BI</a:t>
          </a:r>
          <a:endParaRPr lang="en-US" dirty="0"/>
        </a:p>
      </dgm:t>
    </dgm:pt>
    <dgm:pt modelId="{8C9FF926-C75C-4F71-9363-B0ACD910C294}" type="parTrans" cxnId="{889279BB-7253-464D-B617-EEF7FD2FCD3F}">
      <dgm:prSet/>
      <dgm:spPr/>
      <dgm:t>
        <a:bodyPr/>
        <a:lstStyle/>
        <a:p>
          <a:endParaRPr lang="en-US"/>
        </a:p>
      </dgm:t>
    </dgm:pt>
    <dgm:pt modelId="{B103CD38-295C-4B6D-8D66-70488A090B35}" type="sibTrans" cxnId="{889279BB-7253-464D-B617-EEF7FD2FCD3F}">
      <dgm:prSet/>
      <dgm:spPr/>
      <dgm:t>
        <a:bodyPr/>
        <a:lstStyle/>
        <a:p>
          <a:endParaRPr lang="en-US"/>
        </a:p>
      </dgm:t>
    </dgm:pt>
    <dgm:pt modelId="{24F01DA5-4EC2-4680-A352-A39CBEAA8A58}">
      <dgm:prSet/>
      <dgm:spPr/>
      <dgm:t>
        <a:bodyPr/>
        <a:lstStyle/>
        <a:p>
          <a:r>
            <a:rPr lang="en-US" dirty="0" smtClean="0"/>
            <a:t>Dashboard</a:t>
          </a:r>
          <a:endParaRPr lang="en-US" dirty="0"/>
        </a:p>
      </dgm:t>
    </dgm:pt>
    <dgm:pt modelId="{06F403BD-B212-49CB-87D8-61D0BCC5FD59}" type="parTrans" cxnId="{3F0EC7F5-4CD0-419F-AF0B-A1EBDB9ABADE}">
      <dgm:prSet/>
      <dgm:spPr/>
      <dgm:t>
        <a:bodyPr/>
        <a:lstStyle/>
        <a:p>
          <a:endParaRPr lang="en-US"/>
        </a:p>
      </dgm:t>
    </dgm:pt>
    <dgm:pt modelId="{EA0E672D-5D6C-4297-86A2-A424B34EFC1D}" type="sibTrans" cxnId="{3F0EC7F5-4CD0-419F-AF0B-A1EBDB9ABADE}">
      <dgm:prSet/>
      <dgm:spPr/>
      <dgm:t>
        <a:bodyPr/>
        <a:lstStyle/>
        <a:p>
          <a:endParaRPr lang="en-US"/>
        </a:p>
      </dgm:t>
    </dgm:pt>
    <dgm:pt modelId="{225EAC0D-7E82-4F92-9334-C46A70430119}" type="pres">
      <dgm:prSet presAssocID="{CC8C66AD-0A38-468E-AEAE-56A9F4356002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5C6936E3-C471-4CBC-83B6-CCF253E6DE60}" type="pres">
      <dgm:prSet presAssocID="{A7B7859F-BA68-4263-A2A6-454929105B4F}" presName="Accent1" presStyleCnt="0"/>
      <dgm:spPr/>
    </dgm:pt>
    <dgm:pt modelId="{EA4C9300-E351-4239-94AA-698FF0D43A62}" type="pres">
      <dgm:prSet presAssocID="{A7B7859F-BA68-4263-A2A6-454929105B4F}" presName="Accent" presStyleLbl="node1" presStyleIdx="0" presStyleCnt="4"/>
      <dgm:spPr/>
    </dgm:pt>
    <dgm:pt modelId="{E6D6D08F-8834-41B0-835F-5625F5AA00FD}" type="pres">
      <dgm:prSet presAssocID="{A7B7859F-BA68-4263-A2A6-454929105B4F}" presName="Parent1" presStyleLbl="revTx" presStyleIdx="0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B0BF0-E6C7-4912-80AA-2309D6B10345}" type="pres">
      <dgm:prSet presAssocID="{A488F6FF-0781-4898-B443-D346CDDD9567}" presName="Accent2" presStyleCnt="0"/>
      <dgm:spPr/>
    </dgm:pt>
    <dgm:pt modelId="{BAA9F061-3332-4A24-B79E-A5FD5623359A}" type="pres">
      <dgm:prSet presAssocID="{A488F6FF-0781-4898-B443-D346CDDD9567}" presName="Accent" presStyleLbl="node1" presStyleIdx="1" presStyleCnt="4"/>
      <dgm:spPr/>
    </dgm:pt>
    <dgm:pt modelId="{77EA9119-D5E7-4407-9D0C-F40DC1421764}" type="pres">
      <dgm:prSet presAssocID="{A488F6FF-0781-4898-B443-D346CDDD9567}" presName="Parent2" presStyleLbl="revTx" presStyleIdx="1" presStyleCnt="4">
        <dgm:presLayoutVars>
          <dgm:chMax val="1"/>
          <dgm:chPref val="1"/>
          <dgm:bulletEnabled val="1"/>
        </dgm:presLayoutVars>
      </dgm:prSet>
      <dgm:spPr/>
    </dgm:pt>
    <dgm:pt modelId="{A0A2139C-0079-49E4-8091-730BDCE1A9A7}" type="pres">
      <dgm:prSet presAssocID="{8EE7E220-8B7B-4743-8142-A7B60CDA2BE0}" presName="Accent3" presStyleCnt="0"/>
      <dgm:spPr/>
    </dgm:pt>
    <dgm:pt modelId="{D8EA7465-0BC5-4DAE-83ED-F58987B104AF}" type="pres">
      <dgm:prSet presAssocID="{8EE7E220-8B7B-4743-8142-A7B60CDA2BE0}" presName="Accent" presStyleLbl="node1" presStyleIdx="2" presStyleCnt="4"/>
      <dgm:spPr/>
    </dgm:pt>
    <dgm:pt modelId="{D0538F26-16D8-41C1-AD18-6C03C97A60DF}" type="pres">
      <dgm:prSet presAssocID="{8EE7E220-8B7B-4743-8142-A7B60CDA2BE0}" presName="Parent3" presStyleLbl="revTx" presStyleIdx="2" presStyleCnt="4">
        <dgm:presLayoutVars>
          <dgm:chMax val="1"/>
          <dgm:chPref val="1"/>
          <dgm:bulletEnabled val="1"/>
        </dgm:presLayoutVars>
      </dgm:prSet>
      <dgm:spPr/>
    </dgm:pt>
    <dgm:pt modelId="{013C94E2-BC27-47C8-A059-CAE85E7D51AD}" type="pres">
      <dgm:prSet presAssocID="{24F01DA5-4EC2-4680-A352-A39CBEAA8A58}" presName="Accent4" presStyleCnt="0"/>
      <dgm:spPr/>
    </dgm:pt>
    <dgm:pt modelId="{D078E775-803A-4456-A578-015CD476ED1A}" type="pres">
      <dgm:prSet presAssocID="{24F01DA5-4EC2-4680-A352-A39CBEAA8A58}" presName="Accent" presStyleLbl="node1" presStyleIdx="3" presStyleCnt="4"/>
      <dgm:spPr/>
    </dgm:pt>
    <dgm:pt modelId="{A456A26E-C18C-458A-AE72-BEBE8F989CF6}" type="pres">
      <dgm:prSet presAssocID="{24F01DA5-4EC2-4680-A352-A39CBEAA8A58}" presName="Parent4" presStyleLbl="revTx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889279BB-7253-464D-B617-EEF7FD2FCD3F}" srcId="{CC8C66AD-0A38-468E-AEAE-56A9F4356002}" destId="{8EE7E220-8B7B-4743-8142-A7B60CDA2BE0}" srcOrd="2" destOrd="0" parTransId="{8C9FF926-C75C-4F71-9363-B0ACD910C294}" sibTransId="{B103CD38-295C-4B6D-8D66-70488A090B35}"/>
    <dgm:cxn modelId="{3F0EC7F5-4CD0-419F-AF0B-A1EBDB9ABADE}" srcId="{CC8C66AD-0A38-468E-AEAE-56A9F4356002}" destId="{24F01DA5-4EC2-4680-A352-A39CBEAA8A58}" srcOrd="3" destOrd="0" parTransId="{06F403BD-B212-49CB-87D8-61D0BCC5FD59}" sibTransId="{EA0E672D-5D6C-4297-86A2-A424B34EFC1D}"/>
    <dgm:cxn modelId="{B3634942-062D-4DDF-B2A5-DAEA2B91FA65}" type="presOf" srcId="{A7B7859F-BA68-4263-A2A6-454929105B4F}" destId="{E6D6D08F-8834-41B0-835F-5625F5AA00FD}" srcOrd="0" destOrd="0" presId="urn:microsoft.com/office/officeart/2009/layout/CircleArrowProcess"/>
    <dgm:cxn modelId="{BCE685A7-2116-43B4-BD8C-918D2BCE33A0}" srcId="{CC8C66AD-0A38-468E-AEAE-56A9F4356002}" destId="{A7B7859F-BA68-4263-A2A6-454929105B4F}" srcOrd="0" destOrd="0" parTransId="{C25C3E78-7E18-4D61-86DD-F4DFBE3FDD83}" sibTransId="{94A3F7EF-A7F1-4A48-977E-2DF00D9FEC60}"/>
    <dgm:cxn modelId="{7E821B29-AA34-41B1-9CE9-D1BE2F936FE2}" type="presOf" srcId="{8EE7E220-8B7B-4743-8142-A7B60CDA2BE0}" destId="{D0538F26-16D8-41C1-AD18-6C03C97A60DF}" srcOrd="0" destOrd="0" presId="urn:microsoft.com/office/officeart/2009/layout/CircleArrowProcess"/>
    <dgm:cxn modelId="{4F014081-6D3B-4534-A6AB-38574FB44D82}" type="presOf" srcId="{24F01DA5-4EC2-4680-A352-A39CBEAA8A58}" destId="{A456A26E-C18C-458A-AE72-BEBE8F989CF6}" srcOrd="0" destOrd="0" presId="urn:microsoft.com/office/officeart/2009/layout/CircleArrowProcess"/>
    <dgm:cxn modelId="{83808306-0808-4AC9-8058-8C4176E68522}" srcId="{CC8C66AD-0A38-468E-AEAE-56A9F4356002}" destId="{A488F6FF-0781-4898-B443-D346CDDD9567}" srcOrd="1" destOrd="0" parTransId="{BD6DD02F-F1DA-41F1-A607-8D7BFAAA7F43}" sibTransId="{0F1A65BA-DFC0-4858-AA31-F53A1C342CC0}"/>
    <dgm:cxn modelId="{B0E17529-505A-4B1A-A975-2ED626838872}" type="presOf" srcId="{A488F6FF-0781-4898-B443-D346CDDD9567}" destId="{77EA9119-D5E7-4407-9D0C-F40DC1421764}" srcOrd="0" destOrd="0" presId="urn:microsoft.com/office/officeart/2009/layout/CircleArrowProcess"/>
    <dgm:cxn modelId="{F1EDC679-EB9F-4DAF-A085-2ACD2447D365}" type="presOf" srcId="{CC8C66AD-0A38-468E-AEAE-56A9F4356002}" destId="{225EAC0D-7E82-4F92-9334-C46A70430119}" srcOrd="0" destOrd="0" presId="urn:microsoft.com/office/officeart/2009/layout/CircleArrowProcess"/>
    <dgm:cxn modelId="{5658B138-A8F3-462F-BA13-479FE973833D}" type="presParOf" srcId="{225EAC0D-7E82-4F92-9334-C46A70430119}" destId="{5C6936E3-C471-4CBC-83B6-CCF253E6DE60}" srcOrd="0" destOrd="0" presId="urn:microsoft.com/office/officeart/2009/layout/CircleArrowProcess"/>
    <dgm:cxn modelId="{C595F967-AF9B-4809-9C6F-557D80EDE951}" type="presParOf" srcId="{5C6936E3-C471-4CBC-83B6-CCF253E6DE60}" destId="{EA4C9300-E351-4239-94AA-698FF0D43A62}" srcOrd="0" destOrd="0" presId="urn:microsoft.com/office/officeart/2009/layout/CircleArrowProcess"/>
    <dgm:cxn modelId="{126CD2F2-D620-4806-BDDF-E6EDEB2D6928}" type="presParOf" srcId="{225EAC0D-7E82-4F92-9334-C46A70430119}" destId="{E6D6D08F-8834-41B0-835F-5625F5AA00FD}" srcOrd="1" destOrd="0" presId="urn:microsoft.com/office/officeart/2009/layout/CircleArrowProcess"/>
    <dgm:cxn modelId="{8A6DC5B8-043D-4138-9742-E54C7125AC7B}" type="presParOf" srcId="{225EAC0D-7E82-4F92-9334-C46A70430119}" destId="{F96B0BF0-E6C7-4912-80AA-2309D6B10345}" srcOrd="2" destOrd="0" presId="urn:microsoft.com/office/officeart/2009/layout/CircleArrowProcess"/>
    <dgm:cxn modelId="{58D8DDC9-0535-4316-B641-78468F8A9A69}" type="presParOf" srcId="{F96B0BF0-E6C7-4912-80AA-2309D6B10345}" destId="{BAA9F061-3332-4A24-B79E-A5FD5623359A}" srcOrd="0" destOrd="0" presId="urn:microsoft.com/office/officeart/2009/layout/CircleArrowProcess"/>
    <dgm:cxn modelId="{302BA738-0FA4-442A-B4F8-F9A19CAC85BC}" type="presParOf" srcId="{225EAC0D-7E82-4F92-9334-C46A70430119}" destId="{77EA9119-D5E7-4407-9D0C-F40DC1421764}" srcOrd="3" destOrd="0" presId="urn:microsoft.com/office/officeart/2009/layout/CircleArrowProcess"/>
    <dgm:cxn modelId="{50EB1824-A8E8-478B-93CC-E0FE4E4102FE}" type="presParOf" srcId="{225EAC0D-7E82-4F92-9334-C46A70430119}" destId="{A0A2139C-0079-49E4-8091-730BDCE1A9A7}" srcOrd="4" destOrd="0" presId="urn:microsoft.com/office/officeart/2009/layout/CircleArrowProcess"/>
    <dgm:cxn modelId="{FA08C53A-4465-449E-B13A-D4C2F99BA28B}" type="presParOf" srcId="{A0A2139C-0079-49E4-8091-730BDCE1A9A7}" destId="{D8EA7465-0BC5-4DAE-83ED-F58987B104AF}" srcOrd="0" destOrd="0" presId="urn:microsoft.com/office/officeart/2009/layout/CircleArrowProcess"/>
    <dgm:cxn modelId="{0C0371CD-5ACC-4E2D-B3C7-9E122034802C}" type="presParOf" srcId="{225EAC0D-7E82-4F92-9334-C46A70430119}" destId="{D0538F26-16D8-41C1-AD18-6C03C97A60DF}" srcOrd="5" destOrd="0" presId="urn:microsoft.com/office/officeart/2009/layout/CircleArrowProcess"/>
    <dgm:cxn modelId="{C95CE56E-624E-47A7-8702-9698928312C1}" type="presParOf" srcId="{225EAC0D-7E82-4F92-9334-C46A70430119}" destId="{013C94E2-BC27-47C8-A059-CAE85E7D51AD}" srcOrd="6" destOrd="0" presId="urn:microsoft.com/office/officeart/2009/layout/CircleArrowProcess"/>
    <dgm:cxn modelId="{DFDEE695-67D5-4192-9222-F8CE329B1A9D}" type="presParOf" srcId="{013C94E2-BC27-47C8-A059-CAE85E7D51AD}" destId="{D078E775-803A-4456-A578-015CD476ED1A}" srcOrd="0" destOrd="0" presId="urn:microsoft.com/office/officeart/2009/layout/CircleArrowProcess"/>
    <dgm:cxn modelId="{F0F9705A-BC83-4328-B60D-887C1A7D12A3}" type="presParOf" srcId="{225EAC0D-7E82-4F92-9334-C46A70430119}" destId="{A456A26E-C18C-458A-AE72-BEBE8F989CF6}" srcOrd="7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4C9300-E351-4239-94AA-698FF0D43A62}">
      <dsp:nvSpPr>
        <dsp:cNvPr id="0" name=""/>
        <dsp:cNvSpPr/>
      </dsp:nvSpPr>
      <dsp:spPr>
        <a:xfrm>
          <a:off x="1281557" y="0"/>
          <a:ext cx="2112402" cy="2112617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6D6D08F-8834-41B0-835F-5625F5AA00FD}">
      <dsp:nvSpPr>
        <dsp:cNvPr id="0" name=""/>
        <dsp:cNvSpPr/>
      </dsp:nvSpPr>
      <dsp:spPr>
        <a:xfrm>
          <a:off x="1747942" y="764710"/>
          <a:ext cx="1178840" cy="58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/>
            <a:t>SQl</a:t>
          </a:r>
          <a:endParaRPr lang="en-US" sz="2000" kern="1200" dirty="0"/>
        </a:p>
      </dsp:txBody>
      <dsp:txXfrm>
        <a:off x="1747942" y="764710"/>
        <a:ext cx="1178840" cy="589359"/>
      </dsp:txXfrm>
    </dsp:sp>
    <dsp:sp modelId="{BAA9F061-3332-4A24-B79E-A5FD5623359A}">
      <dsp:nvSpPr>
        <dsp:cNvPr id="0" name=""/>
        <dsp:cNvSpPr/>
      </dsp:nvSpPr>
      <dsp:spPr>
        <a:xfrm>
          <a:off x="694713" y="1214012"/>
          <a:ext cx="2112402" cy="2112617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gradFill rotWithShape="0">
          <a:gsLst>
            <a:gs pos="0">
              <a:schemeClr val="accent2">
                <a:hueOff val="2402804"/>
                <a:satOff val="3666"/>
                <a:lumOff val="13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402804"/>
                <a:satOff val="3666"/>
                <a:lumOff val="13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402804"/>
                <a:satOff val="3666"/>
                <a:lumOff val="13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7EA9119-D5E7-4407-9D0C-F40DC1421764}">
      <dsp:nvSpPr>
        <dsp:cNvPr id="0" name=""/>
        <dsp:cNvSpPr/>
      </dsp:nvSpPr>
      <dsp:spPr>
        <a:xfrm>
          <a:off x="1158720" y="1980963"/>
          <a:ext cx="1178840" cy="58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Excel</a:t>
          </a:r>
          <a:endParaRPr lang="en-US" sz="2000" kern="1200" dirty="0"/>
        </a:p>
      </dsp:txBody>
      <dsp:txXfrm>
        <a:off x="1158720" y="1980963"/>
        <a:ext cx="1178840" cy="589359"/>
      </dsp:txXfrm>
    </dsp:sp>
    <dsp:sp modelId="{D8EA7465-0BC5-4DAE-83ED-F58987B104AF}">
      <dsp:nvSpPr>
        <dsp:cNvPr id="0" name=""/>
        <dsp:cNvSpPr/>
      </dsp:nvSpPr>
      <dsp:spPr>
        <a:xfrm>
          <a:off x="1281557" y="2432506"/>
          <a:ext cx="2112402" cy="2112617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gradFill rotWithShape="0">
          <a:gsLst>
            <a:gs pos="0">
              <a:schemeClr val="accent2">
                <a:hueOff val="4805608"/>
                <a:satOff val="7333"/>
                <a:lumOff val="26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05608"/>
                <a:satOff val="7333"/>
                <a:lumOff val="26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05608"/>
                <a:satOff val="7333"/>
                <a:lumOff val="26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0538F26-16D8-41C1-AD18-6C03C97A60DF}">
      <dsp:nvSpPr>
        <dsp:cNvPr id="0" name=""/>
        <dsp:cNvSpPr/>
      </dsp:nvSpPr>
      <dsp:spPr>
        <a:xfrm>
          <a:off x="1747942" y="3197217"/>
          <a:ext cx="1178840" cy="58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Power BI</a:t>
          </a:r>
          <a:endParaRPr lang="en-US" sz="2000" kern="1200" dirty="0"/>
        </a:p>
      </dsp:txBody>
      <dsp:txXfrm>
        <a:off x="1747942" y="3197217"/>
        <a:ext cx="1178840" cy="589359"/>
      </dsp:txXfrm>
    </dsp:sp>
    <dsp:sp modelId="{D078E775-803A-4456-A578-015CD476ED1A}">
      <dsp:nvSpPr>
        <dsp:cNvPr id="0" name=""/>
        <dsp:cNvSpPr/>
      </dsp:nvSpPr>
      <dsp:spPr>
        <a:xfrm>
          <a:off x="845287" y="3786576"/>
          <a:ext cx="1814819" cy="1815696"/>
        </a:xfrm>
        <a:prstGeom prst="blockArc">
          <a:avLst>
            <a:gd name="adj1" fmla="val 0"/>
            <a:gd name="adj2" fmla="val 18900000"/>
            <a:gd name="adj3" fmla="val 12740"/>
          </a:avLst>
        </a:prstGeom>
        <a:gradFill rotWithShape="0">
          <a:gsLst>
            <a:gs pos="0">
              <a:schemeClr val="accent2">
                <a:hueOff val="7208412"/>
                <a:satOff val="10999"/>
                <a:lumOff val="39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7208412"/>
                <a:satOff val="10999"/>
                <a:lumOff val="39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7208412"/>
                <a:satOff val="10999"/>
                <a:lumOff val="39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56A26E-C18C-458A-AE72-BEBE8F989CF6}">
      <dsp:nvSpPr>
        <dsp:cNvPr id="0" name=""/>
        <dsp:cNvSpPr/>
      </dsp:nvSpPr>
      <dsp:spPr>
        <a:xfrm>
          <a:off x="1158720" y="4413470"/>
          <a:ext cx="1178840" cy="58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Dashboard</a:t>
          </a:r>
          <a:endParaRPr lang="en-US" sz="2000" kern="1200" dirty="0"/>
        </a:p>
      </dsp:txBody>
      <dsp:txXfrm>
        <a:off x="1158720" y="4413470"/>
        <a:ext cx="1178840" cy="5893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01135-9DEA-4A2E-83C2-7D6CEA67CD2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800E3-0257-4DBF-B0D4-DE0C5E8B3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468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01135-9DEA-4A2E-83C2-7D6CEA67CD2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800E3-0257-4DBF-B0D4-DE0C5E8B3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143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01135-9DEA-4A2E-83C2-7D6CEA67CD2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800E3-0257-4DBF-B0D4-DE0C5E8B3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998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01135-9DEA-4A2E-83C2-7D6CEA67CD2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800E3-0257-4DBF-B0D4-DE0C5E8B3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129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01135-9DEA-4A2E-83C2-7D6CEA67CD2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800E3-0257-4DBF-B0D4-DE0C5E8B3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80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01135-9DEA-4A2E-83C2-7D6CEA67CD2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800E3-0257-4DBF-B0D4-DE0C5E8B3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624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01135-9DEA-4A2E-83C2-7D6CEA67CD2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800E3-0257-4DBF-B0D4-DE0C5E8B3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22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01135-9DEA-4A2E-83C2-7D6CEA67CD2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800E3-0257-4DBF-B0D4-DE0C5E8B3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743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01135-9DEA-4A2E-83C2-7D6CEA67CD2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800E3-0257-4DBF-B0D4-DE0C5E8B3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434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01135-9DEA-4A2E-83C2-7D6CEA67CD2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800E3-0257-4DBF-B0D4-DE0C5E8B3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603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01135-9DEA-4A2E-83C2-7D6CEA67CD2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800E3-0257-4DBF-B0D4-DE0C5E8B3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167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01135-9DEA-4A2E-83C2-7D6CEA67CD2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800E3-0257-4DBF-B0D4-DE0C5E8B3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2844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76548" y="1489166"/>
            <a:ext cx="89973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Global Economic &amp; Demographic Trends Analysis</a:t>
            </a:r>
            <a:endParaRPr lang="en-IN" sz="3200" b="1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35978" y="3773473"/>
            <a:ext cx="413433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+mj-lt"/>
              </a:rPr>
              <a:t>Name   : V </a:t>
            </a:r>
            <a:r>
              <a:rPr lang="en-US" sz="2800" b="1" dirty="0" err="1" smtClean="0">
                <a:solidFill>
                  <a:schemeClr val="bg1"/>
                </a:solidFill>
                <a:latin typeface="+mj-lt"/>
              </a:rPr>
              <a:t>Dhanasekaran</a:t>
            </a:r>
            <a:endParaRPr lang="en-US" sz="2800" b="1" dirty="0" smtClean="0">
              <a:solidFill>
                <a:schemeClr val="bg1"/>
              </a:solidFill>
              <a:latin typeface="+mj-lt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+mj-lt"/>
              </a:rPr>
              <a:t>Course : DA &amp; DS</a:t>
            </a:r>
          </a:p>
          <a:p>
            <a:r>
              <a:rPr lang="en-US" sz="2800" b="1" dirty="0" smtClean="0">
                <a:solidFill>
                  <a:schemeClr val="bg1"/>
                </a:solidFill>
                <a:latin typeface="+mj-lt"/>
              </a:rPr>
              <a:t>Batch   : April 2025</a:t>
            </a:r>
            <a:endParaRPr lang="en-IN" sz="28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05425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31552" y="109249"/>
            <a:ext cx="32437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latin typeface="+mj-lt"/>
              </a:rPr>
              <a:t>Project Overview</a:t>
            </a:r>
            <a:endParaRPr lang="en-IN" sz="3200" b="1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0857" y="1327509"/>
            <a:ext cx="666659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+mj-lt"/>
              </a:rPr>
              <a:t>Objective</a:t>
            </a:r>
            <a:r>
              <a:rPr lang="en-US" altLang="en-US" sz="2000" dirty="0">
                <a:latin typeface="+mj-lt"/>
              </a:rPr>
              <a:t>: To analyze and visualize global </a:t>
            </a:r>
            <a:r>
              <a:rPr lang="en-US" altLang="en-US" sz="2000" b="1" dirty="0">
                <a:latin typeface="+mj-lt"/>
              </a:rPr>
              <a:t>population, GDP, literacy, and health indicators</a:t>
            </a:r>
            <a:r>
              <a:rPr lang="en-US" altLang="en-US" sz="2000" dirty="0">
                <a:latin typeface="+mj-lt"/>
              </a:rPr>
              <a:t>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+mj-lt"/>
              </a:rPr>
              <a:t>Data from </a:t>
            </a:r>
            <a:r>
              <a:rPr lang="en-US" altLang="en-US" sz="2000" b="1" dirty="0">
                <a:latin typeface="+mj-lt"/>
              </a:rPr>
              <a:t>SQL and Excel sources</a:t>
            </a:r>
            <a:r>
              <a:rPr lang="en-US" altLang="en-US" sz="2000" dirty="0">
                <a:latin typeface="+mj-lt"/>
              </a:rPr>
              <a:t> integrated in Power BI.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+mj-lt"/>
              </a:rPr>
              <a:t>Perform </a:t>
            </a:r>
            <a:r>
              <a:rPr lang="en-US" altLang="en-US" sz="2000" b="1" dirty="0">
                <a:latin typeface="+mj-lt"/>
              </a:rPr>
              <a:t>data cleaning, transformation, DAX calculations, and statistical analysis</a:t>
            </a:r>
            <a:r>
              <a:rPr lang="en-US" altLang="en-US" sz="2000" dirty="0">
                <a:latin typeface="+mj-lt"/>
              </a:rPr>
              <a:t>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+mj-lt"/>
              </a:rPr>
              <a:t>Final deliverable: An interactive </a:t>
            </a:r>
            <a:r>
              <a:rPr lang="en-US" altLang="en-US" sz="2000" b="1" dirty="0">
                <a:latin typeface="+mj-lt"/>
              </a:rPr>
              <a:t>Power BI dashboard</a:t>
            </a:r>
            <a:r>
              <a:rPr lang="en-US" altLang="en-US" sz="2000" dirty="0">
                <a:latin typeface="+mj-lt"/>
              </a:rPr>
              <a:t> for insights on global trends.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079996852"/>
              </p:ext>
            </p:extLst>
          </p:nvPr>
        </p:nvGraphicFramePr>
        <p:xfrm>
          <a:off x="7772400" y="694024"/>
          <a:ext cx="4088673" cy="56022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5864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92552" y="370506"/>
            <a:ext cx="23294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 smtClean="0">
                <a:latin typeface="+mj-lt"/>
              </a:rPr>
              <a:t>Datasets Used</a:t>
            </a:r>
            <a:endParaRPr lang="en-IN" sz="2800" b="1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2750" y="1465601"/>
            <a:ext cx="636687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+mj-lt"/>
              </a:rPr>
              <a:t>SQL Dataset:</a:t>
            </a:r>
            <a:r>
              <a:rPr lang="en-US" altLang="en-US" sz="2400" dirty="0">
                <a:latin typeface="+mj-lt"/>
              </a:rPr>
              <a:t> </a:t>
            </a:r>
            <a:r>
              <a:rPr lang="en-US" altLang="en-US" sz="2400" dirty="0" err="1">
                <a:latin typeface="+mj-lt"/>
              </a:rPr>
              <a:t>CountriesWorld</a:t>
            </a:r>
            <a:endParaRPr lang="en-US" altLang="en-US" sz="2400" dirty="0"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+mj-lt"/>
              </a:rPr>
              <a:t>Contains: Country, Region, GDP, Literacy, Infant Mortality, Area, Population, etc.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+mj-lt"/>
              </a:rPr>
              <a:t>Excel Datasets:</a:t>
            </a:r>
            <a:endParaRPr lang="en-US" altLang="en-US" sz="2400" dirty="0"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i="1" dirty="0" smtClean="0">
                <a:latin typeface="+mj-lt"/>
              </a:rPr>
              <a:t>Population Per Country</a:t>
            </a:r>
            <a:r>
              <a:rPr lang="en-US" altLang="en-US" sz="2400" dirty="0" smtClean="0">
                <a:latin typeface="+mj-lt"/>
              </a:rPr>
              <a:t> </a:t>
            </a:r>
            <a:r>
              <a:rPr lang="en-US" altLang="en-US" sz="2400" dirty="0">
                <a:latin typeface="+mj-lt"/>
              </a:rPr>
              <a:t>→ Population data (</a:t>
            </a:r>
            <a:r>
              <a:rPr lang="en-US" altLang="en-US" sz="2400" dirty="0" smtClean="0">
                <a:latin typeface="+mj-lt"/>
              </a:rPr>
              <a:t>1960–2016)</a:t>
            </a:r>
            <a:endParaRPr lang="en-US" altLang="en-US" sz="2400" dirty="0"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i="1" dirty="0">
                <a:latin typeface="+mj-lt"/>
              </a:rPr>
              <a:t>GDP by Country</a:t>
            </a:r>
            <a:r>
              <a:rPr lang="en-US" altLang="en-US" sz="2400" dirty="0">
                <a:latin typeface="+mj-lt"/>
              </a:rPr>
              <a:t> → GDP data (1960–2016)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i="1" dirty="0" smtClean="0">
                <a:latin typeface="+mj-lt"/>
              </a:rPr>
              <a:t>Meta Data</a:t>
            </a:r>
            <a:r>
              <a:rPr lang="en-US" altLang="en-US" sz="2400" dirty="0" smtClean="0">
                <a:latin typeface="+mj-lt"/>
              </a:rPr>
              <a:t> </a:t>
            </a:r>
            <a:r>
              <a:rPr lang="en-US" altLang="en-US" sz="2400" dirty="0">
                <a:latin typeface="+mj-lt"/>
              </a:rPr>
              <a:t>→ Region, Income Group, Special Notes</a:t>
            </a:r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849" y="1212901"/>
            <a:ext cx="4482282" cy="517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628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321461" y="292128"/>
            <a:ext cx="60153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latin typeface="+mj-lt"/>
              </a:rPr>
              <a:t>Data Cleaning &amp; Transformation</a:t>
            </a:r>
            <a:endParaRPr lang="en-IN" sz="3200" b="1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7934" y="2022156"/>
            <a:ext cx="6096000" cy="360098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+mj-lt"/>
              </a:rPr>
              <a:t>Imported all datasets into </a:t>
            </a:r>
            <a:r>
              <a:rPr lang="en-US" altLang="en-US" sz="2400" b="1" dirty="0">
                <a:latin typeface="+mj-lt"/>
              </a:rPr>
              <a:t>Power BI</a:t>
            </a:r>
            <a:r>
              <a:rPr lang="en-US" altLang="en-US" sz="2400" dirty="0">
                <a:latin typeface="+mj-lt"/>
              </a:rPr>
              <a:t> using </a:t>
            </a:r>
            <a:r>
              <a:rPr lang="en-US" altLang="en-US" sz="2400" b="1" dirty="0">
                <a:latin typeface="+mj-lt"/>
              </a:rPr>
              <a:t>Power Query Editor</a:t>
            </a:r>
            <a:r>
              <a:rPr lang="en-US" altLang="en-US" sz="2400" dirty="0">
                <a:latin typeface="+mj-lt"/>
              </a:rPr>
              <a:t>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+mj-lt"/>
              </a:rPr>
              <a:t>Cleaned duplicates and null values.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+mj-lt"/>
              </a:rPr>
              <a:t>Transformed data types (numeric, text, date).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+mj-lt"/>
              </a:rPr>
              <a:t>Merged tables using </a:t>
            </a:r>
            <a:r>
              <a:rPr lang="en-US" altLang="en-US" sz="2400" b="1" dirty="0">
                <a:latin typeface="+mj-lt"/>
              </a:rPr>
              <a:t>Country Name / Code</a:t>
            </a:r>
            <a:r>
              <a:rPr lang="en-US" altLang="en-US" sz="2400" dirty="0">
                <a:latin typeface="+mj-lt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+mj-lt"/>
              </a:rPr>
              <a:t>Ensured consistency across all datasets.</a:t>
            </a:r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152" y="1815737"/>
            <a:ext cx="5528136" cy="462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971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29511" y="135374"/>
            <a:ext cx="29081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latin typeface="+mj-lt"/>
              </a:rPr>
              <a:t>Data Modelling</a:t>
            </a:r>
            <a:endParaRPr lang="en-IN" sz="3200" b="1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91624" y="1637868"/>
            <a:ext cx="671907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+mj-lt"/>
              </a:rPr>
              <a:t>Created </a:t>
            </a:r>
            <a:r>
              <a:rPr lang="en-US" altLang="en-US" sz="2400" b="1" dirty="0">
                <a:latin typeface="+mj-lt"/>
              </a:rPr>
              <a:t>relationships</a:t>
            </a:r>
            <a:r>
              <a:rPr lang="en-US" altLang="en-US" sz="2400" dirty="0">
                <a:latin typeface="+mj-lt"/>
              </a:rPr>
              <a:t> between SQL and Excel tables.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+mj-lt"/>
              </a:rPr>
              <a:t>Key relationship: Country Name / Country Code.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+mj-lt"/>
              </a:rPr>
              <a:t>Built </a:t>
            </a:r>
            <a:r>
              <a:rPr lang="en-US" altLang="en-US" sz="2400" b="1" dirty="0">
                <a:latin typeface="+mj-lt"/>
              </a:rPr>
              <a:t>Data Model</a:t>
            </a:r>
            <a:r>
              <a:rPr lang="en-US" altLang="en-US" sz="2400" dirty="0">
                <a:latin typeface="+mj-lt"/>
              </a:rPr>
              <a:t> with connected tables for Population, GDP, and Country details.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+mj-lt"/>
              </a:rPr>
              <a:t>Ensured referential integrity and clean model structure.</a:t>
            </a:r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251" y="1146173"/>
            <a:ext cx="5081452" cy="495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734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318259" y="213751"/>
            <a:ext cx="58382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latin typeface="+mj-lt"/>
              </a:rPr>
              <a:t>Statistical Analysis (Descriptive)</a:t>
            </a:r>
            <a:endParaRPr lang="en-IN" sz="3200" b="1" dirty="0">
              <a:latin typeface="+mj-lt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965" y="1712933"/>
            <a:ext cx="657560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+mj-lt"/>
              </a:rPr>
              <a:t>Mean, Median, Mode, and Standard Deviation for Population &amp; GDP.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+mj-lt"/>
              </a:rPr>
              <a:t>GDP per Capita, Literacy Rate, and Infant Mortality analyzed region-wise</a:t>
            </a:r>
            <a:r>
              <a:rPr lang="en-US" altLang="en-US" sz="2400" dirty="0" smtClean="0">
                <a:latin typeface="+mj-lt"/>
              </a:rPr>
              <a:t>.</a:t>
            </a:r>
            <a:endParaRPr lang="en-US" altLang="en-US" sz="2400" dirty="0"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+mj-lt"/>
              </a:rPr>
              <a:t>Distribution of GDP and Infant Mortality shown using histograms &amp; boxplots</a:t>
            </a:r>
            <a:endParaRPr lang="en-IN" sz="2400" dirty="0">
              <a:latin typeface="+mj-lt"/>
            </a:endParaRPr>
          </a:p>
        </p:txBody>
      </p:sp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004" y="1850145"/>
            <a:ext cx="4859383" cy="371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302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40576" y="318254"/>
            <a:ext cx="33650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latin typeface="+mj-lt"/>
              </a:rPr>
              <a:t>DAX Calculations</a:t>
            </a:r>
            <a:endParaRPr lang="en-IN" sz="3200" b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1" y="1410788"/>
            <a:ext cx="574765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</a:t>
            </a:r>
            <a:r>
              <a:rPr lang="en-US" sz="2400" dirty="0" smtClean="0">
                <a:latin typeface="+mj-lt"/>
              </a:rPr>
              <a:t>reated DAX Measures  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+mj-lt"/>
              </a:rPr>
              <a:t>Avg</a:t>
            </a:r>
            <a:r>
              <a:rPr lang="en-US" sz="2400" dirty="0" smtClean="0">
                <a:latin typeface="+mj-lt"/>
              </a:rPr>
              <a:t> GDP Per Capita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j-lt"/>
              </a:rPr>
              <a:t>Population Growth %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j-lt"/>
              </a:rPr>
              <a:t>GDP Growth%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j-lt"/>
              </a:rPr>
              <a:t>Total GDP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j-lt"/>
              </a:rPr>
              <a:t>Total Population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j-lt"/>
              </a:rPr>
              <a:t>Used To Calculate Average, Sum, Divide, Return and Variance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+mj-lt"/>
            </a:endParaRPr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088" y="1410788"/>
            <a:ext cx="5525589" cy="462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7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339190" y="226814"/>
            <a:ext cx="58943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latin typeface="+mj-lt"/>
              </a:rPr>
              <a:t>Data Visualization &amp; Dashboard</a:t>
            </a:r>
            <a:endParaRPr lang="en-IN" sz="3200" b="1" dirty="0">
              <a:latin typeface="+mj-lt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2697" y="1659620"/>
            <a:ext cx="572729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+mj-lt"/>
              </a:rPr>
              <a:t>Dashboard created using multiple visual types: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+mj-lt"/>
              </a:rPr>
              <a:t>Bar</a:t>
            </a:r>
            <a:r>
              <a:rPr lang="en-US" altLang="en-US" sz="2400" dirty="0">
                <a:latin typeface="+mj-lt"/>
              </a:rPr>
              <a:t>, Line, Map, Scatter, Area, Pie Charts.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+mj-lt"/>
              </a:rPr>
              <a:t>Used </a:t>
            </a:r>
            <a:r>
              <a:rPr lang="en-US" altLang="en-US" sz="2400" b="1" dirty="0">
                <a:latin typeface="+mj-lt"/>
              </a:rPr>
              <a:t>slicers</a:t>
            </a:r>
            <a:r>
              <a:rPr lang="en-US" altLang="en-US" sz="2400" dirty="0">
                <a:latin typeface="+mj-lt"/>
              </a:rPr>
              <a:t> for Region, Year, and Country selection.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+mj-lt"/>
              </a:rPr>
              <a:t>Dashboard design emphasizes clarity and interactivity</a:t>
            </a:r>
            <a:endParaRPr lang="en-IN" sz="2400" dirty="0">
              <a:latin typeface="+mj-lt"/>
            </a:endParaRPr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987" y="1152207"/>
            <a:ext cx="5590903" cy="537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557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63029" y="174563"/>
            <a:ext cx="23855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latin typeface="+mj-lt"/>
              </a:rPr>
              <a:t>Key Insights</a:t>
            </a:r>
            <a:endParaRPr lang="en-IN" sz="3200" b="1" dirty="0"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80010" y="1501451"/>
            <a:ext cx="10328367" cy="4307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 smtClean="0">
                <a:latin typeface="+mj-lt"/>
              </a:rPr>
              <a:t>Population Trends:</a:t>
            </a:r>
            <a:r>
              <a:rPr lang="en-IN" sz="2000" dirty="0" smtClean="0">
                <a:latin typeface="+mj-lt"/>
              </a:rPr>
              <a:t> Asia shows the highest population growth over 1960–2017.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 smtClean="0">
                <a:latin typeface="+mj-lt"/>
              </a:rPr>
              <a:t>GDP Insights:</a:t>
            </a:r>
            <a:r>
              <a:rPr lang="en-IN" sz="2000" dirty="0" smtClean="0">
                <a:latin typeface="+mj-lt"/>
              </a:rPr>
              <a:t> Developed regions have higher GDP per capita; emerging regions show faster GDP growth.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 smtClean="0">
                <a:latin typeface="+mj-lt"/>
              </a:rPr>
              <a:t>Infant Mortality:</a:t>
            </a:r>
            <a:r>
              <a:rPr lang="en-IN" sz="2000" dirty="0" smtClean="0">
                <a:latin typeface="+mj-lt"/>
              </a:rPr>
              <a:t> Inversely correlated with GDP per capita.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 smtClean="0">
                <a:latin typeface="+mj-lt"/>
              </a:rPr>
              <a:t>Literacy Rate:</a:t>
            </a:r>
            <a:r>
              <a:rPr lang="en-IN" sz="2000" dirty="0" smtClean="0">
                <a:latin typeface="+mj-lt"/>
              </a:rPr>
              <a:t> Positively correlated with GDP per capita and life expectancy.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 smtClean="0">
                <a:latin typeface="+mj-lt"/>
              </a:rPr>
              <a:t>Regional Comparison:</a:t>
            </a:r>
            <a:r>
              <a:rPr lang="en-IN" sz="2000" dirty="0" smtClean="0">
                <a:latin typeface="+mj-lt"/>
              </a:rPr>
              <a:t> North America and Europe top in GDP per capita, Africa shows rapid growth in literacy.</a:t>
            </a:r>
            <a:endParaRPr lang="en-IN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20472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41468" y="200688"/>
            <a:ext cx="40479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latin typeface="+mj-lt"/>
              </a:rPr>
              <a:t>Dashboard Highlights</a:t>
            </a:r>
            <a:endParaRPr lang="en-IN" sz="3200" b="1" dirty="0">
              <a:latin typeface="+mj-lt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018" y="1663860"/>
            <a:ext cx="6096000" cy="390395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+mj-lt"/>
              </a:rPr>
              <a:t>5+ visual types used for analysis.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+mj-lt"/>
              </a:rPr>
              <a:t>Region and Country-level filters.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+mj-lt"/>
              </a:rPr>
              <a:t>Interactive storytelling layout.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+mj-lt"/>
              </a:rPr>
              <a:t>Clear KPIs (Top GDP, Growth %, Literacy, Mortality).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+mj-lt"/>
              </a:rPr>
              <a:t>Rolling averages and trend lines show long-term growth</a:t>
            </a:r>
            <a:endParaRPr lang="en-IN" sz="2400" dirty="0">
              <a:latin typeface="+mj-lt"/>
            </a:endParaRPr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119" y="1118865"/>
            <a:ext cx="5421087" cy="533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772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242512" y="0"/>
            <a:ext cx="214513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latin typeface="+mj-lt"/>
              </a:rPr>
              <a:t>Conclusion</a:t>
            </a:r>
            <a:endParaRPr lang="en-IN" sz="3200" b="1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14995" y="1471246"/>
            <a:ext cx="9683932" cy="4411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+mj-lt"/>
              </a:rPr>
              <a:t>Power BI helped combine multiple data sources into one interactive model.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+mj-lt"/>
              </a:rPr>
              <a:t>DAX and descriptive statistics provided deeper insights into world development trends.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+mj-lt"/>
              </a:rPr>
              <a:t>Visual analytics simplified the comparison of key indicators.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+mj-lt"/>
              </a:rPr>
              <a:t>Future work: Add more recent data or predictive analysis using machine learning.</a:t>
            </a:r>
            <a:endParaRPr lang="en-US" alt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79290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">
      <a:majorFont>
        <a:latin typeface="Times New Roman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</TotalTime>
  <Words>505</Words>
  <Application>Microsoft Office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8</cp:revision>
  <dcterms:created xsi:type="dcterms:W3CDTF">2025-11-04T05:07:20Z</dcterms:created>
  <dcterms:modified xsi:type="dcterms:W3CDTF">2025-11-04T06:15:43Z</dcterms:modified>
</cp:coreProperties>
</file>